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4" r:id="rId4"/>
    <p:sldId id="258" r:id="rId5"/>
    <p:sldId id="260" r:id="rId6"/>
    <p:sldId id="266" r:id="rId7"/>
    <p:sldId id="269" r:id="rId8"/>
    <p:sldId id="275" r:id="rId9"/>
    <p:sldId id="276" r:id="rId10"/>
    <p:sldId id="267" r:id="rId11"/>
    <p:sldId id="268" r:id="rId12"/>
    <p:sldId id="277" r:id="rId13"/>
    <p:sldId id="270" r:id="rId14"/>
    <p:sldId id="278" r:id="rId15"/>
    <p:sldId id="273" r:id="rId16"/>
    <p:sldId id="279" r:id="rId17"/>
    <p:sldId id="261" r:id="rId18"/>
    <p:sldId id="264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FE082-CD27-4B01-8500-FE418ECCF1DC}" v="123" dt="2025-11-01T19:23:44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706" autoAdjust="0"/>
  </p:normalViewPr>
  <p:slideViewPr>
    <p:cSldViewPr snapToGrid="0">
      <p:cViewPr varScale="1">
        <p:scale>
          <a:sx n="91" d="100"/>
          <a:sy n="91" d="100"/>
        </p:scale>
        <p:origin x="34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0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3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358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492161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887793" y="2659599"/>
            <a:ext cx="898668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Airlines</a:t>
            </a:r>
            <a:r>
              <a:rPr lang="en-IN" sz="6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Data Analysis</a:t>
            </a:r>
            <a:endParaRPr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127178"/>
            <a:ext cx="5258382" cy="1325563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Anil Kumar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Potnuru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78600" y="1413661"/>
            <a:ext cx="1084763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chemeClr val="dk1"/>
              </a:buClr>
              <a:buSzPts val="1800"/>
            </a:pPr>
            <a:r>
              <a:rPr lang="en-US" sz="2000" dirty="0"/>
              <a:t>Hello, my name is </a:t>
            </a:r>
            <a:r>
              <a:rPr lang="en-US" sz="2000" b="1" dirty="0"/>
              <a:t>Anil Kumar </a:t>
            </a:r>
            <a:r>
              <a:rPr lang="en-US" sz="2000" b="1" dirty="0" err="1"/>
              <a:t>Potnuru</a:t>
            </a:r>
            <a:r>
              <a:rPr lang="en-US" sz="2000" dirty="0"/>
              <a:t>. I have completed my Bachelor’s degree in Computer Science and Engineering, from Gayatri vidya parishad college. I also have hands-on experience as a </a:t>
            </a:r>
            <a:r>
              <a:rPr lang="en-US" sz="2000" b="1" dirty="0"/>
              <a:t>Full Stack Developer Intern</a:t>
            </a:r>
            <a:r>
              <a:rPr lang="en-US" sz="2000" dirty="0"/>
              <a:t>, where I gained practical knowledge of web development.</a:t>
            </a:r>
            <a:endParaRPr lang="en-IN" sz="20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5188" y="41655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About me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4DB11-159A-5FCA-DCCC-2F9137531C80}"/>
              </a:ext>
            </a:extLst>
          </p:cNvPr>
          <p:cNvSpPr txBox="1"/>
          <p:nvPr/>
        </p:nvSpPr>
        <p:spPr>
          <a:xfrm>
            <a:off x="335188" y="3259667"/>
            <a:ext cx="523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Analytics?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625937" y="4190476"/>
            <a:ext cx="10434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Honestly, I wasn’t much interested in traditional IT or  coding side of computer science, but I’ve always loved working with data. Especially when I saw how data is used in real-time like in cricket and other sports create real-time insights inspired me to pursue Data Analytics as a career path. 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7CDB5-4362-24B0-5B4B-650BCECD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23" y="407070"/>
            <a:ext cx="5445154" cy="1325563"/>
          </a:xfrm>
        </p:spPr>
        <p:txBody>
          <a:bodyPr/>
          <a:lstStyle/>
          <a:p>
            <a:r>
              <a:rPr lang="en-US" b="1" dirty="0"/>
              <a:t>Business Problem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304AE-254C-48C4-994D-21920BD5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3004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Airline companies deal with huge amounts of flight data — prices, routes, stops, departure times, duration, airlines, etc.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main goal is understand what factors affect ticket prices and understand pricing patterns.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33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46124" y="271508"/>
            <a:ext cx="10515600" cy="83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da-DK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Dataset Analysis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B3FD-FDC1-0E48-CCF6-590FCD7E5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12" y="1486013"/>
            <a:ext cx="11100816" cy="4082683"/>
          </a:xfrm>
        </p:spPr>
        <p:txBody>
          <a:bodyPr>
            <a:norm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7BB794-C021-8435-9AAC-9E8BCCE0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" y="1427803"/>
            <a:ext cx="1008497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1800" dirty="0"/>
              <a:t>Airlines are one of the most widely used modes of transportation, connecting people across cities and countries efficiently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helps us to know the price trends of airlines over the time.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306156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11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categorical columns.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1800" dirty="0"/>
              <a:t>This dataset provides flight-related details such as airline name, source and destination cities, departure and arrival times, number of stops, travel class, flight duration, days left before departure, and ticket price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 contain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like (airline, price, duration)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need to be handled using appropriate method.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1800" dirty="0"/>
              <a:t>Since the dataset contains duplicate values, they need to be dropped to ensure data accuracy.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2CBCEC-609C-1880-0090-8B2795CC882C}"/>
              </a:ext>
            </a:extLst>
          </p:cNvPr>
          <p:cNvSpPr txBox="1"/>
          <p:nvPr/>
        </p:nvSpPr>
        <p:spPr>
          <a:xfrm>
            <a:off x="432914" y="105033"/>
            <a:ext cx="673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Columns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5A1F70-DAEC-D7BB-3D9D-A6930E87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64093"/>
              </p:ext>
            </p:extLst>
          </p:nvPr>
        </p:nvGraphicFramePr>
        <p:xfrm>
          <a:off x="432914" y="862941"/>
          <a:ext cx="11385466" cy="54313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6480">
                  <a:extLst>
                    <a:ext uri="{9D8B030D-6E8A-4147-A177-3AD203B41FA5}">
                      <a16:colId xmlns:a16="http://schemas.microsoft.com/office/drawing/2014/main" val="2788557822"/>
                    </a:ext>
                  </a:extLst>
                </a:gridCol>
                <a:gridCol w="1572139">
                  <a:extLst>
                    <a:ext uri="{9D8B030D-6E8A-4147-A177-3AD203B41FA5}">
                      <a16:colId xmlns:a16="http://schemas.microsoft.com/office/drawing/2014/main" val="396350870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388133199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3586000903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518177391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927236698"/>
                    </a:ext>
                  </a:extLst>
                </a:gridCol>
                <a:gridCol w="2174847">
                  <a:extLst>
                    <a:ext uri="{9D8B030D-6E8A-4147-A177-3AD203B41FA5}">
                      <a16:colId xmlns:a16="http://schemas.microsoft.com/office/drawing/2014/main" val="1832390709"/>
                    </a:ext>
                  </a:extLst>
                </a:gridCol>
              </a:tblGrid>
              <a:tr h="348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S.No</a:t>
                      </a:r>
                      <a:endParaRPr lang="en-IN" sz="10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Column Name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Missing Values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 Quality Issues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Cleaning/Preprocessing Required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Importance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3218292113"/>
                  </a:ext>
                </a:extLst>
              </a:tr>
              <a:tr h="3806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1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Airline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  <a:r>
                        <a:rPr lang="en-IN" sz="1000" dirty="0"/>
                        <a:t>004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Categorical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Y</a:t>
                      </a:r>
                      <a:r>
                        <a:rPr lang="en-IN" sz="1000" dirty="0"/>
                        <a:t>es(Mode fill)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Name of the airline operating the flight (e.g., indigo)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3080159398"/>
                  </a:ext>
                </a:extLst>
              </a:tr>
              <a:tr h="4975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2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Flight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 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No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</a:t>
                      </a:r>
                      <a:r>
                        <a:rPr lang="en-IN" sz="1000" dirty="0"/>
                        <a:t>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Unique flight number or code assigned by the airline.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2917225317"/>
                  </a:ext>
                </a:extLst>
              </a:tr>
              <a:tr h="459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3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</a:t>
                      </a:r>
                      <a:r>
                        <a:rPr lang="en-IN" sz="1000" dirty="0" err="1"/>
                        <a:t>ource_city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</a:t>
                      </a:r>
                      <a:r>
                        <a:rPr lang="en-IN" sz="1000" dirty="0"/>
                        <a:t>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The city from which the flight departs</a:t>
                      </a:r>
                      <a:r>
                        <a:rPr lang="en-IN" sz="1000" dirty="0"/>
                        <a:t>.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1924571572"/>
                  </a:ext>
                </a:extLst>
              </a:tr>
              <a:tr h="3806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4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D</a:t>
                      </a:r>
                      <a:r>
                        <a:rPr lang="en-IN" sz="1000" dirty="0" err="1"/>
                        <a:t>eparture_time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Scheduled time of flight departure (e.g., Morning, Evening, Night)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738997839"/>
                  </a:ext>
                </a:extLst>
              </a:tr>
              <a:tr h="348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5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</a:t>
                      </a:r>
                      <a:r>
                        <a:rPr lang="en-IN" sz="1000" dirty="0"/>
                        <a:t>tops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00" dirty="0"/>
                        <a:t>Categorical</a:t>
                      </a:r>
                    </a:p>
                    <a:p>
                      <a:pPr algn="ctr">
                        <a:buNone/>
                      </a:pP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Number of stops or layovers in the journey (e.g., Non-stop, 1 Stop, 2 Stops)</a:t>
                      </a:r>
                      <a:r>
                        <a:rPr lang="en-IN" sz="1000" dirty="0"/>
                        <a:t>.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1903484067"/>
                  </a:ext>
                </a:extLst>
              </a:tr>
              <a:tr h="348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6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A</a:t>
                      </a:r>
                      <a:r>
                        <a:rPr lang="en-IN" sz="1000" dirty="0" err="1"/>
                        <a:t>rrival_time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Scheduled time of arrival at the destination (e.g., Morning, Night)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3929085097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7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D</a:t>
                      </a:r>
                      <a:r>
                        <a:rPr lang="en-IN" sz="1000" dirty="0" err="1"/>
                        <a:t>estination_city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~5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No)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The city where the flight arrives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1179086619"/>
                  </a:ext>
                </a:extLst>
              </a:tr>
              <a:tr h="459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8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Class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Categorical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Travel class booked by the passenger (e.g., Economy, Business)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3932524200"/>
                  </a:ext>
                </a:extLst>
              </a:tr>
              <a:tr h="459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9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Duration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  <a:r>
                        <a:rPr lang="en-IN" sz="1000" dirty="0"/>
                        <a:t>004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Numerical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Yes(Median fill)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Total duration of the flight (in hours and minutes)</a:t>
                      </a:r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1169326121"/>
                  </a:ext>
                </a:extLst>
              </a:tr>
              <a:tr h="459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10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 err="1"/>
                        <a:t>Days_left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0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Numerical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Number of days left before the date of departure.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804508818"/>
                  </a:ext>
                </a:extLst>
              </a:tr>
              <a:tr h="601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11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Price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6004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N</a:t>
                      </a:r>
                      <a:r>
                        <a:rPr lang="en-IN" sz="1000" dirty="0" err="1"/>
                        <a:t>umerical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No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Yes(Median fill)</a:t>
                      </a:r>
                    </a:p>
                  </a:txBody>
                  <a:tcPr marL="38736" marR="38736" marT="19368" marB="193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P</a:t>
                      </a:r>
                      <a:r>
                        <a:rPr lang="en-US" sz="1000" dirty="0"/>
                        <a:t>Ticket price for the given flight (target variable for price prediction/analysis)</a:t>
                      </a:r>
                      <a:endParaRPr lang="en-IN" sz="1000" dirty="0"/>
                    </a:p>
                  </a:txBody>
                  <a:tcPr marL="38736" marR="38736" marT="19368" marB="19368" anchor="ctr"/>
                </a:tc>
                <a:extLst>
                  <a:ext uri="{0D108BD9-81ED-4DB2-BD59-A6C34878D82A}">
                    <a16:rowId xmlns:a16="http://schemas.microsoft.com/office/drawing/2014/main" val="65329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39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B8E4DA-F373-91EF-ADBD-A45F2151BAF7}"/>
              </a:ext>
            </a:extLst>
          </p:cNvPr>
          <p:cNvSpPr txBox="1"/>
          <p:nvPr/>
        </p:nvSpPr>
        <p:spPr>
          <a:xfrm>
            <a:off x="1096296" y="385845"/>
            <a:ext cx="9999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Missing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945EB-13B7-66A2-F954-58AF68636448}"/>
              </a:ext>
            </a:extLst>
          </p:cNvPr>
          <p:cNvSpPr txBox="1"/>
          <p:nvPr/>
        </p:nvSpPr>
        <p:spPr>
          <a:xfrm>
            <a:off x="983225" y="1179870"/>
            <a:ext cx="1005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data may occur due to human error, recording, transfer error, system failure etc. May lead to inappropriate analysis.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75E013-C0B4-1A86-C421-D2F79CB5F3FE}"/>
              </a:ext>
            </a:extLst>
          </p:cNvPr>
          <p:cNvSpPr txBox="1"/>
          <p:nvPr/>
        </p:nvSpPr>
        <p:spPr>
          <a:xfrm>
            <a:off x="983226" y="1828562"/>
            <a:ext cx="831317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To check null values: </a:t>
            </a:r>
            <a:r>
              <a:rPr lang="en-US" altLang="en-US" dirty="0" err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df.isnull</a:t>
            </a: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().sum() gives </a:t>
            </a:r>
            <a:r>
              <a:rPr lang="en-US" altLang="en-US" dirty="0" err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no.of</a:t>
            </a: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missing values in each column.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Columns with missing values: airline (6004), duration (6004), price (6004).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To handle missing data there are some methods like imputation and drop.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Drop if the missing data is very small(&lt;5%) or huge(&gt;70%).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Imputation for numerical columns(median) and categorical column(mode).</a:t>
            </a: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BCE99-DF71-8A5A-23E1-74FEAE6E5F42}"/>
              </a:ext>
            </a:extLst>
          </p:cNvPr>
          <p:cNvSpPr txBox="1"/>
          <p:nvPr/>
        </p:nvSpPr>
        <p:spPr>
          <a:xfrm>
            <a:off x="1039760" y="3640647"/>
            <a:ext cx="9999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Duplicates: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7509A-8623-CEE9-2D58-A8BD7BF21607}"/>
              </a:ext>
            </a:extLst>
          </p:cNvPr>
          <p:cNvSpPr txBox="1"/>
          <p:nvPr/>
        </p:nvSpPr>
        <p:spPr>
          <a:xfrm>
            <a:off x="1039760" y="4447025"/>
            <a:ext cx="988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Duplicates are repeated records in the dataset that can inflate counts and bias analysis.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5D1FD-38ED-C9D1-DF23-B3EF9796577E}"/>
              </a:ext>
            </a:extLst>
          </p:cNvPr>
          <p:cNvSpPr txBox="1"/>
          <p:nvPr/>
        </p:nvSpPr>
        <p:spPr>
          <a:xfrm>
            <a:off x="1096296" y="4945626"/>
            <a:ext cx="9758518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en-US" dirty="0">
                <a:solidFill>
                  <a:schemeClr val="tx1"/>
                </a:solidFill>
              </a:rPr>
              <a:t>Checked for duplicates in dataset and found 6003 and removed using </a:t>
            </a:r>
            <a:r>
              <a:rPr lang="en-US" altLang="en-US" dirty="0" err="1">
                <a:solidFill>
                  <a:schemeClr val="tx1"/>
                </a:solidFill>
              </a:rPr>
              <a:t>df.drop_duplicates</a:t>
            </a:r>
            <a:r>
              <a:rPr lang="en-US" altLang="en-US" dirty="0">
                <a:solidFill>
                  <a:schemeClr val="tx1"/>
                </a:solidFill>
              </a:rPr>
              <a:t>() method.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   Ensures dataset remains clean without redundancy.</a:t>
            </a:r>
          </a:p>
        </p:txBody>
      </p:sp>
    </p:spTree>
    <p:extLst>
      <p:ext uri="{BB962C8B-B14F-4D97-AF65-F5344CB8AC3E}">
        <p14:creationId xmlns:p14="http://schemas.microsoft.com/office/powerpoint/2010/main" val="261610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1B052-C4A9-9B91-24F0-33BE56E64518}"/>
              </a:ext>
            </a:extLst>
          </p:cNvPr>
          <p:cNvSpPr txBox="1"/>
          <p:nvPr/>
        </p:nvSpPr>
        <p:spPr>
          <a:xfrm>
            <a:off x="973393" y="816613"/>
            <a:ext cx="1002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Outliers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053BB-C074-B086-1738-CD09EC0A3166}"/>
              </a:ext>
            </a:extLst>
          </p:cNvPr>
          <p:cNvSpPr txBox="1"/>
          <p:nvPr/>
        </p:nvSpPr>
        <p:spPr>
          <a:xfrm>
            <a:off x="973392" y="1462944"/>
            <a:ext cx="975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are data points that are different or far away from other values that don’t follow general pattern.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70212-588E-B555-191A-B29336B7115D}"/>
              </a:ext>
            </a:extLst>
          </p:cNvPr>
          <p:cNvSpPr txBox="1"/>
          <p:nvPr/>
        </p:nvSpPr>
        <p:spPr>
          <a:xfrm>
            <a:off x="1096295" y="2109275"/>
            <a:ext cx="9507793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Airline dataset outliers occur in price and duration columns.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They may arise due to human error, system glitches, or may be festival season particularly in this dataset.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Detecting and understanding outliers is important because they can affect the accuracy of analysis and model performance.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They are detected using IQR technique and boxplot.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lower and upper limits were calculated, and records outside these limits were treated.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Handling outliers improved data quality, accuracy of insights, and visual clarity in analysis.</a:t>
            </a:r>
          </a:p>
        </p:txBody>
      </p:sp>
    </p:spTree>
    <p:extLst>
      <p:ext uri="{BB962C8B-B14F-4D97-AF65-F5344CB8AC3E}">
        <p14:creationId xmlns:p14="http://schemas.microsoft.com/office/powerpoint/2010/main" val="2497520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06745-BD72-85DB-46A9-894C173D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42" y="3355246"/>
            <a:ext cx="3491368" cy="2925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468FD-F601-7DC0-C6E3-43171B4B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759" y="3355246"/>
            <a:ext cx="3547768" cy="292535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C07AB339-0CCC-899D-8643-F3B7F78A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473" y="3079655"/>
            <a:ext cx="1131071" cy="283980"/>
          </a:xfrm>
        </p:spPr>
        <p:txBody>
          <a:bodyPr>
            <a:normAutofit/>
          </a:bodyPr>
          <a:lstStyle/>
          <a:p>
            <a:r>
              <a:rPr lang="en-US" sz="1000" b="1" dirty="0"/>
              <a:t>Before Removing </a:t>
            </a:r>
            <a:endParaRPr lang="en-IN" sz="1000" b="1" dirty="0"/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25B5A04D-EDB1-EA39-02C2-D5EBA8256FF8}"/>
              </a:ext>
            </a:extLst>
          </p:cNvPr>
          <p:cNvSpPr txBox="1">
            <a:spLocks/>
          </p:cNvSpPr>
          <p:nvPr/>
        </p:nvSpPr>
        <p:spPr>
          <a:xfrm>
            <a:off x="7407748" y="3071266"/>
            <a:ext cx="1011613" cy="28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 dirty="0"/>
              <a:t>After Removing</a:t>
            </a:r>
            <a:endParaRPr lang="en-IN" sz="1000" b="1" dirty="0"/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4B7A0CDE-D43C-75BE-B961-87FCA9AA38ED}"/>
              </a:ext>
            </a:extLst>
          </p:cNvPr>
          <p:cNvSpPr txBox="1">
            <a:spLocks/>
          </p:cNvSpPr>
          <p:nvPr/>
        </p:nvSpPr>
        <p:spPr>
          <a:xfrm>
            <a:off x="1002139" y="145728"/>
            <a:ext cx="3829919" cy="47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Visual Representation Of Outliers</a:t>
            </a:r>
            <a:endParaRPr lang="en-IN" sz="20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C0467F-45AC-6CE5-CE91-4E393A4B1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053" y="619458"/>
            <a:ext cx="3439005" cy="23780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9A5A01-2990-AC94-684C-6775C7D0A5EA}"/>
              </a:ext>
            </a:extLst>
          </p:cNvPr>
          <p:cNvSpPr txBox="1"/>
          <p:nvPr/>
        </p:nvSpPr>
        <p:spPr>
          <a:xfrm>
            <a:off x="5704030" y="619458"/>
            <a:ext cx="5713386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Calculated the Lower fence and Upper fence with IQR.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Values beyond and above the fence are outliers.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can see before and after filtering outliers images.</a:t>
            </a:r>
          </a:p>
        </p:txBody>
      </p:sp>
    </p:spTree>
    <p:extLst>
      <p:ext uri="{BB962C8B-B14F-4D97-AF65-F5344CB8AC3E}">
        <p14:creationId xmlns:p14="http://schemas.microsoft.com/office/powerpoint/2010/main" val="29127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7A943E4-EA06-1223-6CE8-44ECACD9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30" y="3642948"/>
            <a:ext cx="3685428" cy="24796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E4A899-C486-9DE7-8ED8-19A7DD95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394" y="3642947"/>
            <a:ext cx="3685428" cy="24796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84B856-1E54-8FB4-04F5-58729179F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30" y="674620"/>
            <a:ext cx="2527188" cy="2644390"/>
          </a:xfrm>
          <a:prstGeom prst="rect">
            <a:avLst/>
          </a:prstGeom>
        </p:spPr>
      </p:pic>
      <p:sp>
        <p:nvSpPr>
          <p:cNvPr id="6" name="Title 12">
            <a:extLst>
              <a:ext uri="{FF2B5EF4-FFF2-40B4-BE49-F238E27FC236}">
                <a16:creationId xmlns:a16="http://schemas.microsoft.com/office/drawing/2014/main" id="{09340FBE-43FD-3A9A-BF64-7EC6189C6D36}"/>
              </a:ext>
            </a:extLst>
          </p:cNvPr>
          <p:cNvSpPr txBox="1">
            <a:spLocks/>
          </p:cNvSpPr>
          <p:nvPr/>
        </p:nvSpPr>
        <p:spPr>
          <a:xfrm>
            <a:off x="2182582" y="3358967"/>
            <a:ext cx="1131071" cy="283980"/>
          </a:xfrm>
          <a:prstGeom prst="rect">
            <a:avLst/>
          </a:prstGeom>
        </p:spPr>
        <p:txBody>
          <a:bodyPr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/>
              <a:t>Before Removing </a:t>
            </a:r>
            <a:endParaRPr lang="en-IN" sz="1000" b="1" dirty="0"/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5E644913-017F-5833-2C0D-70331321FE35}"/>
              </a:ext>
            </a:extLst>
          </p:cNvPr>
          <p:cNvSpPr txBox="1">
            <a:spLocks/>
          </p:cNvSpPr>
          <p:nvPr/>
        </p:nvSpPr>
        <p:spPr>
          <a:xfrm>
            <a:off x="8482713" y="3358967"/>
            <a:ext cx="1131071" cy="2839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 dirty="0"/>
              <a:t>After Removing </a:t>
            </a:r>
            <a:endParaRPr lang="en-IN" sz="1000" b="1" dirty="0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EF4D7AEF-B147-0EE9-50B6-9452BE100513}"/>
              </a:ext>
            </a:extLst>
          </p:cNvPr>
          <p:cNvSpPr txBox="1">
            <a:spLocks/>
          </p:cNvSpPr>
          <p:nvPr/>
        </p:nvSpPr>
        <p:spPr>
          <a:xfrm>
            <a:off x="1002140" y="145728"/>
            <a:ext cx="2001120" cy="47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/>
              <a:t>In duration column</a:t>
            </a:r>
            <a:endParaRPr lang="en-IN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C7241-E889-E668-066A-9C593DDBE846}"/>
              </a:ext>
            </a:extLst>
          </p:cNvPr>
          <p:cNvSpPr txBox="1"/>
          <p:nvPr/>
        </p:nvSpPr>
        <p:spPr>
          <a:xfrm>
            <a:off x="5704030" y="619458"/>
            <a:ext cx="571338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Calculated the Lower fence and Upper fence with IQR.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Values beyond and above the fence are outliers.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But you can still see some outliers too after filtering, because those are near to edge or borderline values.</a:t>
            </a:r>
          </a:p>
        </p:txBody>
      </p:sp>
    </p:spTree>
    <p:extLst>
      <p:ext uri="{BB962C8B-B14F-4D97-AF65-F5344CB8AC3E}">
        <p14:creationId xmlns:p14="http://schemas.microsoft.com/office/powerpoint/2010/main" val="169576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A6AB5-C900-65C2-6EFC-805A6B9E3145}"/>
              </a:ext>
            </a:extLst>
          </p:cNvPr>
          <p:cNvSpPr txBox="1"/>
          <p:nvPr/>
        </p:nvSpPr>
        <p:spPr>
          <a:xfrm>
            <a:off x="985570" y="752813"/>
            <a:ext cx="292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1E8AAE-2F12-EBFF-DAAC-38CECB0A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70" y="1462935"/>
            <a:ext cx="978309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yes- there is a target variable in my dataset and </a:t>
            </a:r>
            <a:r>
              <a:rPr lang="en-US" dirty="0" err="1"/>
              <a:t>i.e</a:t>
            </a:r>
            <a:r>
              <a:rPr lang="en-US" dirty="0"/>
              <a:t> Price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dependent column based on the other columns the Price column will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predict the fare of flight based on other columns</a:t>
            </a:r>
            <a:r>
              <a:rPr lang="en-US" sz="16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4A72CC-5F10-6F28-D213-243F36A6A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80" y="2523153"/>
            <a:ext cx="10119975" cy="24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1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393091-7849-4A25-624D-D86AC7694027}"/>
              </a:ext>
            </a:extLst>
          </p:cNvPr>
          <p:cNvSpPr txBox="1"/>
          <p:nvPr/>
        </p:nvSpPr>
        <p:spPr>
          <a:xfrm>
            <a:off x="737419" y="422787"/>
            <a:ext cx="41869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E04C2-D989-0255-84C0-A2D42707F4B0}"/>
              </a:ext>
            </a:extLst>
          </p:cNvPr>
          <p:cNvSpPr txBox="1"/>
          <p:nvPr/>
        </p:nvSpPr>
        <p:spPr>
          <a:xfrm>
            <a:off x="737419" y="1108700"/>
            <a:ext cx="1048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 examines a single variable at a time to understand its distribution and frequency.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BC2E2-62E9-0E30-9EDE-21250E47A0AB}"/>
              </a:ext>
            </a:extLst>
          </p:cNvPr>
          <p:cNvSpPr txBox="1"/>
          <p:nvPr/>
        </p:nvSpPr>
        <p:spPr>
          <a:xfrm>
            <a:off x="737419" y="1523225"/>
            <a:ext cx="10481187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Shows which airline appear most frequently in the dataset.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No. of flights connecting through each stop.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69CC9-B90A-6617-363F-C3F01011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243" y="2818628"/>
            <a:ext cx="4013677" cy="3513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1FB055-B764-581D-5699-D849808AC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017" y="2818628"/>
            <a:ext cx="3838444" cy="361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30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AD5C1A-4276-56B0-C672-880232E71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197" y="2043626"/>
            <a:ext cx="5863904" cy="4513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217874-BB01-D2E7-DEE6-2D2CEA23ED1C}"/>
              </a:ext>
            </a:extLst>
          </p:cNvPr>
          <p:cNvSpPr txBox="1"/>
          <p:nvPr/>
        </p:nvSpPr>
        <p:spPr>
          <a:xfrm>
            <a:off x="1089757" y="765840"/>
            <a:ext cx="10604496" cy="1277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Most flight price are between range 1000- 15000 with budget-friendly and affordable.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There are very few flights between 20,000-40,000.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As we can see there are some more flights between 40,000 to around 65,000 maybe business class tickets.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Very less no. of flights having the cost cut above 85,000 maybe they are non-stop flights with business class.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9636A-E1CF-837A-07DA-6434D8F97028}"/>
              </a:ext>
            </a:extLst>
          </p:cNvPr>
          <p:cNvSpPr txBox="1"/>
          <p:nvPr/>
        </p:nvSpPr>
        <p:spPr>
          <a:xfrm>
            <a:off x="930366" y="395635"/>
            <a:ext cx="255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of flight prices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4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179CE1-D882-02EF-C281-E308ED7D5CB3}"/>
              </a:ext>
            </a:extLst>
          </p:cNvPr>
          <p:cNvSpPr txBox="1"/>
          <p:nvPr/>
        </p:nvSpPr>
        <p:spPr>
          <a:xfrm>
            <a:off x="729915" y="427531"/>
            <a:ext cx="3607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15CB0-39C5-A822-AEFF-D244A66482E1}"/>
              </a:ext>
            </a:extLst>
          </p:cNvPr>
          <p:cNvSpPr txBox="1"/>
          <p:nvPr/>
        </p:nvSpPr>
        <p:spPr>
          <a:xfrm>
            <a:off x="611807" y="1074093"/>
            <a:ext cx="10892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Bivariate analysis examines the relationship between two variables are they correlated, dependent, or independent</a:t>
            </a:r>
            <a:r>
              <a:rPr lang="en-US" sz="1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E8B8-83EE-E452-7CE7-4E0FD7964C5D}"/>
              </a:ext>
            </a:extLst>
          </p:cNvPr>
          <p:cNvSpPr txBox="1"/>
          <p:nvPr/>
        </p:nvSpPr>
        <p:spPr>
          <a:xfrm>
            <a:off x="729915" y="1535729"/>
            <a:ext cx="10732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</a:rPr>
              <a:t>Price variation between price and </a:t>
            </a:r>
            <a:r>
              <a:rPr lang="en-US" sz="1600" dirty="0" err="1">
                <a:latin typeface="+mn-lt"/>
              </a:rPr>
              <a:t>no.of</a:t>
            </a:r>
            <a:r>
              <a:rPr lang="en-US" sz="1600" dirty="0">
                <a:latin typeface="+mn-lt"/>
              </a:rPr>
              <a:t> stops and price and </a:t>
            </a:r>
            <a:r>
              <a:rPr lang="en-US" sz="1600" dirty="0" err="1">
                <a:latin typeface="+mn-lt"/>
              </a:rPr>
              <a:t>days_left</a:t>
            </a:r>
            <a:r>
              <a:rPr lang="en-US" sz="1600" dirty="0">
                <a:latin typeface="+mn-lt"/>
              </a:rPr>
              <a:t>.</a:t>
            </a:r>
            <a:endParaRPr lang="en-IN" sz="16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3E9AAD-028D-7CE4-9879-5332CEBDD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10" y="2286515"/>
            <a:ext cx="4488700" cy="4186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4CCCC9-6AEF-2995-4F01-D142FABC3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744" y="2169068"/>
            <a:ext cx="4925781" cy="404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73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7E66B-E310-3515-66FB-28C2E912E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4" y="2476566"/>
            <a:ext cx="5175886" cy="3823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842ACA-6111-4ED6-3086-007E83C1EAA3}"/>
              </a:ext>
            </a:extLst>
          </p:cNvPr>
          <p:cNvSpPr txBox="1"/>
          <p:nvPr/>
        </p:nvSpPr>
        <p:spPr>
          <a:xfrm>
            <a:off x="906084" y="705218"/>
            <a:ext cx="107321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Outliers represent flight prices that are significantly higher than the rest. These could be due to last-minute bookings, premium airlines, business class seats, or limited availability on popular routes.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boxplot shows that flight prices vary with departure time. Late-night flights are generally cheaper, while morning and evening flights tend to be more expensive. The outliers represent high-priced tickets due to premium services or peak-time demand.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As we can see here AirAsia having the avg ticket price among the other airlines below 5k.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So the AirAsia airlines is the cheapest airline with budget friendly and affordable ticket prices to travel.</a:t>
            </a:r>
          </a:p>
          <a:p>
            <a:endParaRPr lang="en-US" dirty="0"/>
          </a:p>
          <a:p>
            <a:endParaRPr lang="en-IN" sz="16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76222-2F27-B4B9-7AC9-0C61E8CB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197" y="2501733"/>
            <a:ext cx="4767330" cy="352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91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5C024-4D9D-78FA-6906-B8FBED6BC0B1}"/>
              </a:ext>
            </a:extLst>
          </p:cNvPr>
          <p:cNvSpPr txBox="1"/>
          <p:nvPr/>
        </p:nvSpPr>
        <p:spPr>
          <a:xfrm>
            <a:off x="593558" y="302476"/>
            <a:ext cx="40623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4870A-F080-9B3D-0A5B-B5A5770184EA}"/>
              </a:ext>
            </a:extLst>
          </p:cNvPr>
          <p:cNvSpPr txBox="1"/>
          <p:nvPr/>
        </p:nvSpPr>
        <p:spPr>
          <a:xfrm>
            <a:off x="660668" y="932029"/>
            <a:ext cx="10555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 explores relationships among three or more variables simultaneously.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DEA3D-65D0-6C68-B7E6-F6E8F5AACA27}"/>
              </a:ext>
            </a:extLst>
          </p:cNvPr>
          <p:cNvSpPr txBox="1"/>
          <p:nvPr/>
        </p:nvSpPr>
        <p:spPr>
          <a:xfrm>
            <a:off x="593556" y="1287362"/>
            <a:ext cx="8852448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n-lt"/>
              </a:rPr>
              <a:t>Lineplot</a:t>
            </a:r>
            <a:r>
              <a:rPr lang="en-US" sz="1600" dirty="0">
                <a:latin typeface="+mn-lt"/>
              </a:rPr>
              <a:t> and Heatmap to see the numeric changes over time for price trends and correlation between the columns.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Price trend by airline and </a:t>
            </a:r>
            <a:r>
              <a:rPr lang="en-US" sz="1600" dirty="0" err="1">
                <a:latin typeface="+mn-lt"/>
              </a:rPr>
              <a:t>days_left</a:t>
            </a:r>
            <a:r>
              <a:rPr lang="en-US" sz="1600" dirty="0">
                <a:latin typeface="+mn-lt"/>
              </a:rPr>
              <a:t> and relation b/w price, duration, </a:t>
            </a:r>
            <a:r>
              <a:rPr lang="en-US" sz="1600" dirty="0" err="1">
                <a:latin typeface="+mn-lt"/>
              </a:rPr>
              <a:t>days_left</a:t>
            </a:r>
            <a:r>
              <a:rPr lang="en-US" sz="1600" dirty="0">
                <a:latin typeface="+mn-lt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F8431-D51D-49F4-BC3C-7FCE78CF6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68" y="2814201"/>
            <a:ext cx="5383764" cy="3217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1B27B-3C3E-8F6E-D42F-EC2F4F453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253" y="2814202"/>
            <a:ext cx="4261608" cy="321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70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CEAC6-E158-5F54-FD9E-83C97021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14" y="2065538"/>
            <a:ext cx="9966123" cy="4109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8884D4-3114-EED1-B73C-A7436AB4972C}"/>
              </a:ext>
            </a:extLst>
          </p:cNvPr>
          <p:cNvSpPr txBox="1"/>
          <p:nvPr/>
        </p:nvSpPr>
        <p:spPr>
          <a:xfrm>
            <a:off x="979450" y="683354"/>
            <a:ext cx="8852448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As we can see here there is change of ticket price as the </a:t>
            </a:r>
            <a:r>
              <a:rPr lang="en-US" sz="1600" dirty="0" err="1">
                <a:latin typeface="+mn-lt"/>
              </a:rPr>
              <a:t>days_left</a:t>
            </a:r>
            <a:r>
              <a:rPr lang="en-US" sz="1600" dirty="0">
                <a:latin typeface="+mn-lt"/>
              </a:rPr>
              <a:t> are decreasing.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But according to the destination city the price variation takes place and this is called dynamic pricing.</a:t>
            </a:r>
          </a:p>
        </p:txBody>
      </p:sp>
    </p:spTree>
    <p:extLst>
      <p:ext uri="{BB962C8B-B14F-4D97-AF65-F5344CB8AC3E}">
        <p14:creationId xmlns:p14="http://schemas.microsoft.com/office/powerpoint/2010/main" val="256099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A8A01A-A6A5-557B-4D26-338E0E3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64017" cy="96672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2C77B-DE88-DA7B-A9F3-99137E672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7827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Vistara operates the most flights and has the highest average ticket prices, while AirAsia offers the lowest-priced fares.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Zero-stop flights are generally cheaper, but one-stop flights often cover premium or long routes.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Morning and evening flights are priced higher due to peak demand.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Economy class dominates bookings, with over two-thirds of passengers choosing 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Found a weak negative correlation between </a:t>
            </a:r>
            <a:r>
              <a:rPr lang="en-US" sz="2000" dirty="0" err="1"/>
              <a:t>days_left</a:t>
            </a:r>
            <a:r>
              <a:rPr lang="en-US" sz="2000" dirty="0"/>
              <a:t> and price, meaning early bookings slightly reduce costs.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AirAsia is one of the budget friendly operating airline with fare prices to travel.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Because most of the AirAsia flights are arriving at </a:t>
            </a:r>
            <a:r>
              <a:rPr lang="en-US" sz="2000" dirty="0" err="1"/>
              <a:t>Late_night</a:t>
            </a:r>
            <a:r>
              <a:rPr lang="en-US" sz="2000" dirty="0"/>
              <a:t> to take the advantage of cheaper airport slot and are called Red-Eye Flights.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Vistara takes the most of the </a:t>
            </a:r>
            <a:r>
              <a:rPr lang="en-IN" sz="2000" dirty="0" err="1"/>
              <a:t>Early_morning</a:t>
            </a:r>
            <a:r>
              <a:rPr lang="en-IN" sz="2000" dirty="0"/>
              <a:t> flight for fast filling due to cheap airport slots.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2483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5F-089E-5CDF-17BA-3958554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248" y="736338"/>
            <a:ext cx="3283974" cy="80530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8E0875-59D9-11CA-F3F8-8C8866CDA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2925" y="1827011"/>
            <a:ext cx="91104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This dataset provides the analysis and explain how price strategies in aviation industry.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see pricing and scheduling are not random, it’s a move by the airlines.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If passengers want low price flights they have to sacrifice sleep and comfort.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This dataset only provides about the domestic(with in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india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),if we have the international routes we can see the price variation for the international connections too.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1800" dirty="0"/>
              <a:t>Overall, ticket price trends depend on multiple factors such as number of stops, airline, and booking timing — not just distance alone.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940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8854" y="1886922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87367"/>
            <a:ext cx="5458204" cy="247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6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6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4896</TotalTime>
  <Words>1544</Words>
  <Application>Microsoft Office PowerPoint</Application>
  <PresentationFormat>Widescreen</PresentationFormat>
  <Paragraphs>187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Wingdings</vt:lpstr>
      <vt:lpstr>Arial</vt:lpstr>
      <vt:lpstr>Lato Black</vt:lpstr>
      <vt:lpstr>Courier New</vt:lpstr>
      <vt:lpstr>Times New Roman</vt:lpstr>
      <vt:lpstr>Libre Baskerville</vt:lpstr>
      <vt:lpstr>Office Theme</vt:lpstr>
      <vt:lpstr>Presented By: Anil Kumar Potnuru</vt:lpstr>
      <vt:lpstr>PowerPoint Presentation</vt:lpstr>
      <vt:lpstr>Business Problem</vt:lpstr>
      <vt:lpstr>Airline Dataset Analysis</vt:lpstr>
      <vt:lpstr>PowerPoint Presentation</vt:lpstr>
      <vt:lpstr>PowerPoint Presentation</vt:lpstr>
      <vt:lpstr>PowerPoint Presentation</vt:lpstr>
      <vt:lpstr>Before Removing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anil kumar</cp:lastModifiedBy>
  <cp:revision>16</cp:revision>
  <dcterms:created xsi:type="dcterms:W3CDTF">2021-02-16T05:19:01Z</dcterms:created>
  <dcterms:modified xsi:type="dcterms:W3CDTF">2025-11-08T05:44:34Z</dcterms:modified>
</cp:coreProperties>
</file>